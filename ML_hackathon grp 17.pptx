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879" r:id="rId2"/>
    <p:sldId id="870" r:id="rId3"/>
    <p:sldId id="787" r:id="rId4"/>
    <p:sldId id="871" r:id="rId5"/>
    <p:sldId id="887" r:id="rId6"/>
    <p:sldId id="872" r:id="rId7"/>
    <p:sldId id="873" r:id="rId8"/>
    <p:sldId id="880" r:id="rId9"/>
    <p:sldId id="881" r:id="rId10"/>
    <p:sldId id="883" r:id="rId11"/>
    <p:sldId id="885" r:id="rId12"/>
    <p:sldId id="7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1667"/>
    <a:srgbClr val="F48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5F6B2-846D-47E6-A303-B008A64DCBF7}" v="1" dt="2025-10-18T08:55:31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8566" autoAdjust="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AK PATEL" userId="d46a2272fca5a693" providerId="LiveId" clId="{62F0DF81-7EA3-465C-8B82-1A42FEF2E88A}"/>
    <pc:docChg chg="custSel modSld">
      <pc:chgData name="ASHWAK PATEL" userId="d46a2272fca5a693" providerId="LiveId" clId="{62F0DF81-7EA3-465C-8B82-1A42FEF2E88A}" dt="2025-10-18T08:57:08.015" v="98" actId="20577"/>
      <pc:docMkLst>
        <pc:docMk/>
      </pc:docMkLst>
      <pc:sldChg chg="modSp mod">
        <pc:chgData name="ASHWAK PATEL" userId="d46a2272fca5a693" providerId="LiveId" clId="{62F0DF81-7EA3-465C-8B82-1A42FEF2E88A}" dt="2025-10-18T08:57:08.015" v="98" actId="20577"/>
        <pc:sldMkLst>
          <pc:docMk/>
          <pc:sldMk cId="0" sldId="870"/>
        </pc:sldMkLst>
        <pc:spChg chg="mod">
          <ac:chgData name="ASHWAK PATEL" userId="d46a2272fca5a693" providerId="LiveId" clId="{62F0DF81-7EA3-465C-8B82-1A42FEF2E88A}" dt="2025-10-18T08:57:08.015" v="98" actId="20577"/>
          <ac:spMkLst>
            <pc:docMk/>
            <pc:sldMk cId="0" sldId="870"/>
            <ac:spMk id="2" creationId="{00000000-0000-0000-0000-000000000000}"/>
          </ac:spMkLst>
        </pc:spChg>
      </pc:sldChg>
      <pc:sldChg chg="modSp mod">
        <pc:chgData name="ASHWAK PATEL" userId="d46a2272fca5a693" providerId="LiveId" clId="{62F0DF81-7EA3-465C-8B82-1A42FEF2E88A}" dt="2025-10-18T08:56:05.770" v="29" actId="14100"/>
        <pc:sldMkLst>
          <pc:docMk/>
          <pc:sldMk cId="4199353688" sldId="873"/>
        </pc:sldMkLst>
        <pc:spChg chg="mod">
          <ac:chgData name="ASHWAK PATEL" userId="d46a2272fca5a693" providerId="LiveId" clId="{62F0DF81-7EA3-465C-8B82-1A42FEF2E88A}" dt="2025-10-18T08:56:05.770" v="29" actId="14100"/>
          <ac:spMkLst>
            <pc:docMk/>
            <pc:sldMk cId="4199353688" sldId="873"/>
            <ac:spMk id="3" creationId="{D67796CE-F6D8-E73D-0C34-813DD36063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217A6-CB41-4341-8C4A-EBD25C7C2FAC}" type="datetimeFigureOut">
              <a:rPr lang="en-IN" smtClean="0"/>
              <a:pPr/>
              <a:t>18-10-2025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63FEB-7600-4757-BD9D-D1F0ADF3872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9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01C-3D73-9145-9D27-022775352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C3C5-2E28-584B-9E08-C350F0473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AA21-1AC4-EE4A-9EE6-2CF24966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17B80-16F2-43B0-A4DC-ED53563881B0}" type="datetimeFigureOut">
              <a:rPr lang="en-IN" smtClean="0"/>
              <a:pPr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6A89-F6F6-594C-B1D8-D2FE52E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7059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137256"/>
            <a:ext cx="11436823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194" y="348661"/>
            <a:ext cx="11436823" cy="421441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412491"/>
            <a:ext cx="12218977" cy="47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3F47-3531-4371-B8DB-59E457D07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4" y="6520072"/>
            <a:ext cx="1262820" cy="2839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6" y="6478751"/>
            <a:ext cx="758687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3239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015E1-575C-CC43-8E0C-38A94C0D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0D65-9225-7C42-BE9D-7E7ACD23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5A4A-C107-8941-A91D-265C6703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17B80-16F2-43B0-A4DC-ED53563881B0}" type="datetimeFigureOut">
              <a:rPr lang="en-IN" smtClean="0"/>
              <a:pPr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8F1F-AA4B-E44F-87CA-30B4D3D4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6259-99F7-DF4A-8A42-0737A8CC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571E2-CB37-48A9-99CE-43F409074F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8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39291-6610-AB0B-C87C-6DF906A0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108" y="875998"/>
            <a:ext cx="11436823" cy="5220001"/>
          </a:xfrm>
        </p:spPr>
        <p:txBody>
          <a:bodyPr>
            <a:noAutofit/>
          </a:bodyPr>
          <a:lstStyle/>
          <a:p>
            <a:pPr marL="241300" marR="6985" indent="-229235" algn="just">
              <a:lnSpc>
                <a:spcPct val="148300"/>
              </a:lnSpc>
              <a:spcBef>
                <a:spcPts val="114"/>
              </a:spcBef>
              <a:buNone/>
              <a:tabLst>
                <a:tab pos="241300" algn="l"/>
                <a:tab pos="241935" algn="l"/>
              </a:tabLst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464458"/>
            <a:ext cx="11436823" cy="1770742"/>
          </a:xfrm>
        </p:spPr>
        <p:txBody>
          <a:bodyPr/>
          <a:lstStyle/>
          <a:p>
            <a:pPr marL="0" indent="0" algn="ctr" defTabSz="702076">
              <a:defRPr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 for Personalized Adaptive Learning: Enhancing Engagement through Dynamic Learning Style Adaptation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4FF8342-9D4E-BEED-4694-0DF58DF87C2B}"/>
              </a:ext>
            </a:extLst>
          </p:cNvPr>
          <p:cNvSpPr txBox="1">
            <a:spLocks/>
          </p:cNvSpPr>
          <p:nvPr/>
        </p:nvSpPr>
        <p:spPr>
          <a:xfrm>
            <a:off x="362240" y="2510971"/>
            <a:ext cx="11436823" cy="3396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2400" dirty="0"/>
              <a:t>Presented By:</a:t>
            </a:r>
            <a:r>
              <a:rPr lang="en-US" sz="2400" b="1" dirty="0"/>
              <a:t>    </a:t>
            </a:r>
          </a:p>
          <a:p>
            <a:br>
              <a:rPr lang="en-IN" sz="2400" dirty="0"/>
            </a:br>
            <a:r>
              <a:rPr lang="en-IN" sz="2400" b="1" dirty="0" err="1"/>
              <a:t>Ch.Suryavardhan</a:t>
            </a:r>
            <a:r>
              <a:rPr lang="en-US" sz="2400" b="1" dirty="0"/>
              <a:t> [BL.EN.U4CSE23007]</a:t>
            </a:r>
          </a:p>
          <a:p>
            <a:r>
              <a:rPr lang="en-US" sz="2400" b="1" dirty="0" err="1"/>
              <a:t>P.V.S.R.S.Himakar</a:t>
            </a:r>
            <a:r>
              <a:rPr lang="en-US" sz="2400" b="1" dirty="0"/>
              <a:t> [BL.EN.U4CSE23039]</a:t>
            </a:r>
            <a:endParaRPr lang="en-IN" sz="2400" dirty="0"/>
          </a:p>
          <a:p>
            <a:r>
              <a:rPr lang="en-IN" sz="2200" b="1" dirty="0" err="1"/>
              <a:t>T.Harika</a:t>
            </a:r>
            <a:r>
              <a:rPr lang="en-IN" sz="2200" b="1" dirty="0"/>
              <a:t> Bhargavi</a:t>
            </a:r>
            <a:r>
              <a:rPr lang="en-US" sz="2400" b="1" dirty="0"/>
              <a:t>[BL.EN.U4CSE23055]</a:t>
            </a:r>
            <a:endParaRPr lang="en-IN" sz="2400" dirty="0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D17575-F61C-30A7-1EAF-7961086C5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PORIPIREDDI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KARTHIK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-[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BL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EN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U4CSE23142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]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48A345-961B-0F22-5A53-A1C74F851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PORIPIREDDI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KARTHIK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-[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BL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EN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</a:rPr>
              <a:t>U4CSE23142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]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Dataset Description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Preprocessing Steps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Models Used in Document Quality Assessment</a:t>
            </a:r>
          </a:p>
          <a:p>
            <a:pPr marL="514350" indent="-514350">
              <a:buAutoNum type="arabicPeriod" startAt="4"/>
            </a:pPr>
            <a:r>
              <a:rPr lang="en-IN" dirty="0"/>
              <a:t>Models description</a:t>
            </a:r>
          </a:p>
          <a:p>
            <a:pPr marL="514350" indent="-514350">
              <a:buAutoNum type="arabicPeriod" startAt="4"/>
            </a:pPr>
            <a:r>
              <a:rPr lang="en-IN" dirty="0"/>
              <a:t>Performance  </a:t>
            </a:r>
          </a:p>
          <a:p>
            <a:pPr marL="514350" indent="-514350">
              <a:buAutoNum type="arabicPeriod" startAt="4"/>
            </a:pPr>
            <a:r>
              <a:rPr lang="en-IN" dirty="0"/>
              <a:t>Conclusion</a:t>
            </a:r>
          </a:p>
          <a:p>
            <a:pPr marL="514350" indent="-514350">
              <a:buAutoNum type="arabicPeriod" startAt="4"/>
            </a:pPr>
            <a:r>
              <a:rPr lang="en-IN" dirty="0"/>
              <a:t>Limitations</a:t>
            </a:r>
          </a:p>
          <a:p>
            <a:pPr marL="514350" indent="-514350">
              <a:buAutoNum type="arabicPeriod" startAt="4"/>
            </a:pPr>
            <a:endParaRPr lang="en-IN" dirty="0"/>
          </a:p>
          <a:p>
            <a:pPr marL="514350" indent="-51435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BCBDD0-DDD8-A97F-2FAA-0814A746C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8578"/>
              </p:ext>
            </p:extLst>
          </p:nvPr>
        </p:nvGraphicFramePr>
        <p:xfrm>
          <a:off x="7091082" y="1210235"/>
          <a:ext cx="4262718" cy="591671"/>
        </p:xfrm>
        <a:graphic>
          <a:graphicData uri="http://schemas.openxmlformats.org/drawingml/2006/table">
            <a:tbl>
              <a:tblPr/>
              <a:tblGrid>
                <a:gridCol w="4262718">
                  <a:extLst>
                    <a:ext uri="{9D8B030D-6E8A-4147-A177-3AD203B41FA5}">
                      <a16:colId xmlns:a16="http://schemas.microsoft.com/office/drawing/2014/main" val="110520103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16694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39291-6610-AB0B-C87C-6DF906A0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68" y="1823861"/>
            <a:ext cx="11196864" cy="3012300"/>
          </a:xfrm>
        </p:spPr>
        <p:txBody>
          <a:bodyPr>
            <a:noAutofit/>
          </a:bodyPr>
          <a:lstStyle/>
          <a:p>
            <a:r>
              <a:rPr lang="en-IN" sz="2400" b="1" dirty="0"/>
              <a:t>POI and geometry:</a:t>
            </a:r>
            <a:r>
              <a:rPr lang="en-IN" sz="2400" dirty="0"/>
              <a:t> OpenStreetMap, Wikidata.</a:t>
            </a:r>
          </a:p>
          <a:p>
            <a:endParaRPr lang="en-IN" sz="2400" dirty="0"/>
          </a:p>
          <a:p>
            <a:r>
              <a:rPr lang="en-IN" sz="2400" b="1" dirty="0"/>
              <a:t>Content &amp; images:</a:t>
            </a:r>
            <a:r>
              <a:rPr lang="en-IN" sz="2400" dirty="0"/>
              <a:t> Wikimedia Commons, Wikipedia summaries, local heritage archives (Europeana for EU, etc.).</a:t>
            </a:r>
          </a:p>
          <a:p>
            <a:endParaRPr lang="en-IN" sz="2400" dirty="0"/>
          </a:p>
          <a:p>
            <a:r>
              <a:rPr lang="en-IN" sz="2400" b="1" dirty="0"/>
              <a:t>User interaction logs:</a:t>
            </a:r>
            <a:r>
              <a:rPr lang="en-IN" sz="2400" dirty="0"/>
              <a:t> your app’s analytics DB (Postgres).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09" y="323494"/>
            <a:ext cx="11436823" cy="42144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Dataset Description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39291-6610-AB0B-C87C-6DF906A0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108" y="875998"/>
            <a:ext cx="11436823" cy="52200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US" b="1" dirty="0"/>
              <a:t>I. POI Content Data Pre-processing (Static Data)</a:t>
            </a:r>
            <a:endParaRPr lang="en-US" dirty="0"/>
          </a:p>
          <a:p>
            <a:r>
              <a:rPr lang="en-US" b="1" dirty="0"/>
              <a:t>Load and Standardize POI Data:</a:t>
            </a:r>
            <a:r>
              <a:rPr lang="en-US" dirty="0"/>
              <a:t> Load all Points of Interest (POI) attributes and content variants, ensuring geographic coordinates and text are in a consistent, standardized format.</a:t>
            </a:r>
          </a:p>
          <a:p>
            <a:r>
              <a:rPr lang="en-US" b="1" dirty="0"/>
              <a:t>Feature Engineering for POI Attributes:</a:t>
            </a:r>
            <a:r>
              <a:rPr lang="en-US" dirty="0"/>
              <a:t> Calculate numerical feature vectors for each content variant (text length, audio duration, image count) and encode categorical attributes (POI category) for use in the recommendation models.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IN" dirty="0"/>
              <a:t>Pre-Processing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2D3A-7594-E587-B5D4-FE00B230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A557AB-4B37-991F-7925-4A4A55A60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108" y="875998"/>
            <a:ext cx="11436823" cy="5220001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 Text"/>
              </a:rPr>
              <a:t>II. User Interaction Log Pre-processing (Dynamic Data)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Load Logs:</a:t>
            </a:r>
            <a:r>
              <a:rPr lang="en-US" altLang="en-US" dirty="0">
                <a:latin typeface="Google Sans Text"/>
              </a:rPr>
              <a:t> Ingest raw interaction logs (clicks, time, events).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Clean Logs:</a:t>
            </a:r>
            <a:r>
              <a:rPr lang="en-US" altLang="en-US" dirty="0">
                <a:latin typeface="Google Sans Text"/>
              </a:rPr>
              <a:t> Remove corrupted entries (missing ID/timestamp).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Aggregate Features:</a:t>
            </a:r>
            <a:r>
              <a:rPr lang="en-US" altLang="en-US" dirty="0">
                <a:latin typeface="Google Sans Text"/>
              </a:rPr>
              <a:t> Calculate metrics per user/POI (e.g., Time-on-POI, Audio Ratio).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Generate Reward Label:</a:t>
            </a:r>
            <a:r>
              <a:rPr lang="en-US" altLang="en-US" dirty="0">
                <a:latin typeface="Google Sans Text"/>
              </a:rPr>
              <a:t> Define binary engagement R=1/0 using consumption thresholds.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Scale Features:</a:t>
            </a:r>
            <a:r>
              <a:rPr lang="en-US" altLang="en-US" dirty="0">
                <a:latin typeface="Google Sans Text"/>
              </a:rPr>
              <a:t> Normalize continuous features (e.g., Min-Max or Standardization).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Google Sans Text"/>
              </a:rPr>
              <a:t>Sessionize</a:t>
            </a:r>
            <a:r>
              <a:rPr lang="en-US" altLang="en-US" b="1" dirty="0">
                <a:latin typeface="Google Sans Text"/>
              </a:rPr>
              <a:t>:</a:t>
            </a:r>
            <a:r>
              <a:rPr lang="en-US" altLang="en-US" dirty="0">
                <a:latin typeface="Google Sans Text"/>
              </a:rPr>
              <a:t> Group interactions into distinct user sessions.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221BD3-C825-36F6-AF13-236A8E5E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IN" dirty="0"/>
              <a:t>Pre-Processing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3394777292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Models Used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B3359A-2D56-B34D-460A-144A5B1DF6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3983" y="1324099"/>
            <a:ext cx="1166792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Profiling &amp; Learning-style Inference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Unsupervised grouping of users based on interaction features to discover common learning styles.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/ Random Forest: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classifiers to map new users' features to the established learning style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Recommendation / Sequencing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Epsilon-greedy: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Simplest bandit approach for the MVP to demonstrate real-time adaptation.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Prediction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Small Neural Net: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Binary classifiers trained on historical logs to predict the probability of a positive user interaction (e.g., listening, completing a story).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796CE-F6D8-E73D-0C34-813DD360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88" y="564860"/>
            <a:ext cx="11436823" cy="796954"/>
          </a:xfrm>
        </p:spPr>
        <p:txBody>
          <a:bodyPr/>
          <a:lstStyle/>
          <a:p>
            <a:pPr marL="514350" indent="-5143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1 –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Content Sequencer (Contextual Bandit)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F7D0D1-A156-DE8A-CE2F-2A1E4B723D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54257"/>
            <a:ext cx="11436823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Contextual Multi-Armed Bandit(e.g.,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LinUCB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Epsilon-Greedy for MVP).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content selection — model chooses the optimal next content variant (arm) for a POI based on user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Context: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Features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(Profile): Inferred Learning Style, Time of Day, Recent Engagement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 Features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(Arm): Content Type (Audio/Text/Image -&gt;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Arm ID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Length/Duration,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Content Variant (Arm ID)with the highest expected reward.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 Signal (Rt):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Binary (1 or 0)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if user engagement threshold is met (e.g., listens &gt; 20s, scrolls &gt; 80%).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Mechanism: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updates arm's value/confidence after receiving the reward signal Rt for the chosen variant.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Policy (MVP):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Epsilon-Greedy(simplest online learning).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 Rate (e):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0.1 (10% random choice for exploration).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Value: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Uniformly high or optimistic to encourage initial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53688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448A-B4C2-EF16-D6D9-626BE7BE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EDCBE-695B-4DAD-04F7-876F7088E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3" y="963337"/>
            <a:ext cx="11436823" cy="5894663"/>
          </a:xfrm>
        </p:spPr>
        <p:txBody>
          <a:bodyPr>
            <a:noAutofit/>
          </a:bodyPr>
          <a:lstStyle/>
          <a:p>
            <a:r>
              <a:rPr lang="en-IN" b="1" dirty="0"/>
              <a:t>Model:</a:t>
            </a:r>
            <a:r>
              <a:rPr lang="en-IN" dirty="0"/>
              <a:t> Lightweight Classifier (e.g., Logistic Regression or Random Forest).</a:t>
            </a:r>
          </a:p>
          <a:p>
            <a:r>
              <a:rPr lang="en-IN" b="1" dirty="0"/>
              <a:t>Task:</a:t>
            </a:r>
            <a:r>
              <a:rPr lang="en-IN" dirty="0"/>
              <a:t> Infer the user’s preferred learning style/profile (e.g., Auditory, Visual, Textual) from interaction patterns.</a:t>
            </a:r>
          </a:p>
          <a:p>
            <a:r>
              <a:rPr lang="en-IN" b="1" dirty="0"/>
              <a:t>Input Features:</a:t>
            </a:r>
            <a:r>
              <a:rPr lang="en-IN" dirty="0"/>
              <a:t> Aggregated Interaction Metrics (Time-on-POI, Audio Ratio, Scroll Depth, Images Viewed Count).</a:t>
            </a:r>
          </a:p>
          <a:p>
            <a:r>
              <a:rPr lang="en-IN" b="1" dirty="0"/>
              <a:t>Output:</a:t>
            </a:r>
            <a:r>
              <a:rPr lang="en-IN" dirty="0"/>
              <a:t> User Profile Label (e.g., Profile A: Visual Learner).</a:t>
            </a:r>
          </a:p>
          <a:p>
            <a:r>
              <a:rPr lang="en-IN" b="1" dirty="0"/>
              <a:t>Training Dataset:</a:t>
            </a:r>
            <a:r>
              <a:rPr lang="en-IN" dirty="0"/>
              <a:t> Logs </a:t>
            </a:r>
            <a:r>
              <a:rPr lang="en-IN" dirty="0" err="1"/>
              <a:t>labeled</a:t>
            </a:r>
            <a:r>
              <a:rPr lang="en-IN" dirty="0"/>
              <a:t> with profiles derived from initial </a:t>
            </a:r>
            <a:r>
              <a:rPr lang="en-IN" b="1" dirty="0"/>
              <a:t>K-means Clustering</a:t>
            </a:r>
            <a:r>
              <a:rPr lang="en-IN" dirty="0"/>
              <a:t> (unsupervised </a:t>
            </a:r>
            <a:r>
              <a:rPr lang="en-IN" dirty="0" err="1"/>
              <a:t>labeling</a:t>
            </a:r>
            <a:r>
              <a:rPr lang="en-IN" dirty="0"/>
              <a:t>).</a:t>
            </a:r>
          </a:p>
          <a:p>
            <a:r>
              <a:rPr lang="en-IN" b="1" dirty="0"/>
              <a:t>Inference Method:</a:t>
            </a:r>
            <a:r>
              <a:rPr lang="en-IN" dirty="0"/>
              <a:t> TensorFlow.js (TF.js) for fast, client-side, real-time prediction upon new interaction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C7F4EA-BED1-9ECD-1F30-46A703E1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IN" dirty="0"/>
              <a:t>Model 2: </a:t>
            </a:r>
            <a:r>
              <a:rPr lang="en-US" dirty="0"/>
              <a:t>Learning Style Classifier (User Profiling)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442136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4A504-7403-C549-101F-BF6C9D54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862CE-7488-2404-0A85-2B4FFB8DD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216371"/>
            <a:ext cx="9686925" cy="453955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E124F4F-C3B3-3335-9AAE-15CBD40F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IN" dirty="0" err="1"/>
              <a:t>Perfomance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208739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EB28D-A53A-9262-08C5-35DAF63A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5907D8-A9BC-D213-16BA-663A1973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348661"/>
            <a:ext cx="11436823" cy="527337"/>
          </a:xfrm>
        </p:spPr>
        <p:txBody>
          <a:bodyPr/>
          <a:lstStyle/>
          <a:p>
            <a:pPr marL="514350" indent="-514350"/>
            <a:r>
              <a:rPr lang="en-IN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9A688C-09A5-6283-A9A9-92122A894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193" y="1166773"/>
            <a:ext cx="1143682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personalize cultural heritage tours using real-time user interaction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Contextual Bandit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sequence content (audio/text/image) based on user context and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lightweight online learning approach suitable for a web application MVP.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trained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Classifier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(TF.js) for robust profile inference.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A/B test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measure the lift in engagement rate compared to a non-adaptive baseline.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the POI catalog and refine the reward function for longer-term engagement optimization (via reinforcement learning).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140315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EE3C2-A013-2311-2918-2391A21E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43" y="491273"/>
            <a:ext cx="11436823" cy="421441"/>
          </a:xfrm>
        </p:spPr>
        <p:txBody>
          <a:bodyPr/>
          <a:lstStyle/>
          <a:p>
            <a:r>
              <a:rPr lang="en-IN" dirty="0"/>
              <a:t>Limitation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0B5CE-D4AF-95FC-17F3-270426DCD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023" y="1136375"/>
            <a:ext cx="11327524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POI/Content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MVP relies on a small, manually curated set of POIs and content variants; this limits the diversity and scope of the cultural tour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Reward Function: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initial bandit reward (R=1/0) is simplistic (based only on time/scroll thresholds) and may not fully capture nuanced user satisfaction or true learning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starts with little or no information for new users and new POIs, leading to a period of initial random or default content sequencing until sufficient data is collected.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retraining (K-means, Classifier) is an offline, nightly task; the underlying user profile doesn't adapt in real-time within a single, prolonged user session.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Granularity: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Geolocation accuracy can vary, potentially triggering POI content too early or too late, which could disrupt the user's flow and context.</a:t>
            </a:r>
          </a:p>
        </p:txBody>
      </p:sp>
    </p:spTree>
    <p:extLst>
      <p:ext uri="{BB962C8B-B14F-4D97-AF65-F5344CB8AC3E}">
        <p14:creationId xmlns:p14="http://schemas.microsoft.com/office/powerpoint/2010/main" val="2173347279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852" y="3019290"/>
            <a:ext cx="11436823" cy="421441"/>
          </a:xfrm>
        </p:spPr>
        <p:txBody>
          <a:bodyPr/>
          <a:lstStyle/>
          <a:p>
            <a:pPr algn="ctr"/>
            <a:r>
              <a:rPr lang="en-IN" sz="4400" dirty="0"/>
              <a:t>THANK YOU </a:t>
            </a:r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NAAC PR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 Day 1" id="{1050CA0A-CE8E-48ED-8F62-CC6BA02C8BF2}" vid="{C31685F0-4043-44CE-9A5A-A5C2439D0C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Amrita College Presentation Template</Template>
  <TotalTime>2039</TotalTime>
  <Words>1018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Georgia</vt:lpstr>
      <vt:lpstr>Google Sans Text</vt:lpstr>
      <vt:lpstr>inherit</vt:lpstr>
      <vt:lpstr>Segoe UI</vt:lpstr>
      <vt:lpstr>Times New Roman</vt:lpstr>
      <vt:lpstr>NAAC PRT Template</vt:lpstr>
      <vt:lpstr>Machine Learning Framework for Personalized Adaptive Learning: Enhancing Engagement through Dynamic Learning Style Adaptation</vt:lpstr>
      <vt:lpstr>INDEX</vt:lpstr>
      <vt:lpstr>Dataset Description</vt:lpstr>
      <vt:lpstr>Pre-Processing Steps</vt:lpstr>
      <vt:lpstr>Pre-Processing Steps</vt:lpstr>
      <vt:lpstr> Models Used </vt:lpstr>
      <vt:lpstr>Model 1 – Adaptive Content Sequencer (Contextual Bandit)  </vt:lpstr>
      <vt:lpstr>Model 2: Learning Style Classifier (User Profiling)</vt:lpstr>
      <vt:lpstr>Perfomance</vt:lpstr>
      <vt:lpstr>Conclusion </vt:lpstr>
      <vt:lpstr>Limitation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Sajitha Krishnan</dc:creator>
  <cp:lastModifiedBy>HIMAKAR PISIPATI</cp:lastModifiedBy>
  <cp:revision>413</cp:revision>
  <dcterms:created xsi:type="dcterms:W3CDTF">2024-07-16T16:42:38Z</dcterms:created>
  <dcterms:modified xsi:type="dcterms:W3CDTF">2025-10-18T15:47:27Z</dcterms:modified>
</cp:coreProperties>
</file>